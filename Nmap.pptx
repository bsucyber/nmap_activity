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81" r:id="rId5"/>
    <p:sldId id="284" r:id="rId6"/>
    <p:sldId id="278" r:id="rId7"/>
    <p:sldId id="288" r:id="rId8"/>
    <p:sldId id="279" r:id="rId9"/>
    <p:sldId id="286" r:id="rId10"/>
    <p:sldId id="287" r:id="rId11"/>
    <p:sldId id="289" r:id="rId12"/>
    <p:sldId id="291" r:id="rId13"/>
    <p:sldId id="290" r:id="rId14"/>
    <p:sldId id="285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9C2038-08F0-AF51-19D9-8DB9C850B11F}" v="197" dt="2025-10-08T21:10:33.416"/>
    <p1510:client id="{7084CD83-C18D-8BEC-B304-12ABAB29FFCA}" v="401" dt="2025-10-09T15:41:18.488"/>
    <p1510:client id="{AF7701DF-95EB-6D27-6F29-8E1115E5BC99}" v="455" dt="2025-10-08T04:00:18.514"/>
    <p1510:client id="{BE31E406-E84C-A2CA-9092-93F18CD341F0}" v="270" dt="2025-10-08T18:29:10.794"/>
    <p1510:client id="{DCD41A2D-580B-7F78-0BDA-3752F03B1164}" v="233" dt="2025-10-09T01:24:23.664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879" autoAdjust="0"/>
  </p:normalViewPr>
  <p:slideViewPr>
    <p:cSldViewPr snapToGrid="0">
      <p:cViewPr varScale="1">
        <p:scale>
          <a:sx n="157" d="100"/>
          <a:sy n="157" d="100"/>
        </p:scale>
        <p:origin x="234" y="138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01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DE8B6-9C30-06F6-7A70-47FCB6B4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E3BFA-1900-BD5F-9C21-D4AC770AA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3A60ED-068B-BE6C-60AA-06F91A9F8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05214-9A83-9F76-4320-8834B6746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2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nmap.org/download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Cybersecurity club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790329"/>
            <a:ext cx="5134335" cy="41130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News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Ports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What is Nmap?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Nmap activity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Socials</a:t>
            </a:r>
          </a:p>
        </p:txBody>
      </p:sp>
      <p:pic>
        <p:nvPicPr>
          <p:cNvPr id="7" name="Picture Placeholder 6" descr="A computer screen with a pencil and people on it&#10;&#10;Description automatically generated">
            <a:extLst>
              <a:ext uri="{FF2B5EF4-FFF2-40B4-BE49-F238E27FC236}">
                <a16:creationId xmlns:a16="http://schemas.microsoft.com/office/drawing/2014/main" id="{08DAC26A-09CC-AEE3-869C-FA1137049814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618" y="2069307"/>
            <a:ext cx="5944181" cy="3128821"/>
          </a:xfrm>
          <a:noFill/>
        </p:spPr>
      </p:pic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anchor="ctr"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CYBER NEWS!!!</a:t>
            </a:r>
            <a:endParaRPr lang="en-US" dirty="0"/>
          </a:p>
        </p:txBody>
      </p:sp>
      <p:pic>
        <p:nvPicPr>
          <p:cNvPr id="3" name="Content Placeholder 2" descr="SonicWall firewall backups stolen">
            <a:extLst>
              <a:ext uri="{FF2B5EF4-FFF2-40B4-BE49-F238E27FC236}">
                <a16:creationId xmlns:a16="http://schemas.microsoft.com/office/drawing/2014/main" id="{F64B4C8E-BFF5-3BE0-53F9-6D66A5CB56B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6453747" y="2027506"/>
            <a:ext cx="4894006" cy="275287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DBB83-5C52-3FB9-D039-8EAC38B7B41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SonicWall firewall configuration files stolen by hackers.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These files contained encrypted credentials as well as config data.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All users that utilized the cloud backup feature are affected.</a:t>
            </a:r>
          </a:p>
        </p:txBody>
      </p:sp>
    </p:spTree>
    <p:extLst>
      <p:ext uri="{BB962C8B-B14F-4D97-AF65-F5344CB8AC3E}">
        <p14:creationId xmlns:p14="http://schemas.microsoft.com/office/powerpoint/2010/main" val="393043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14A33-3E27-19EB-ACB4-B447F1F19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FCBAE-C9FA-C4BA-0A15-0F4D2CEEF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>
                <a:ea typeface="Calibri Light"/>
                <a:cs typeface="Calibri Light"/>
              </a:rPr>
              <a:t>What Are ports?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8E144-403B-2197-F506-1BA799591F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3335" y="2024779"/>
            <a:ext cx="5212079" cy="413718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Before using a port scanning tool it is important to understand what a port is.</a:t>
            </a:r>
            <a:endParaRPr lang="en-US" dirty="0"/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Ports are an abstraction to make network communication easier. 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A service gets assigned a port to "listen" on.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65E81-C638-04A9-9163-F277ECD50A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2024780"/>
            <a:ext cx="4894006" cy="413718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Ports are standardized across devices and follow certain conventions.</a:t>
            </a:r>
          </a:p>
          <a:p>
            <a:pPr marL="342900" indent="-34290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There are 65536 ports classified as follows:</a:t>
            </a:r>
          </a:p>
          <a:p>
            <a:pPr marL="800100" lvl="2" indent="-342900">
              <a:buFont typeface="Wingdings"/>
              <a:buChar char="§"/>
            </a:pPr>
            <a:r>
              <a:rPr lang="en-US" dirty="0">
                <a:ea typeface="Calibri"/>
                <a:cs typeface="Calibri"/>
              </a:rPr>
              <a:t>(0-1023) </a:t>
            </a:r>
            <a:r>
              <a:rPr lang="en-US" b="1" dirty="0">
                <a:ea typeface="Calibri"/>
                <a:cs typeface="Calibri"/>
              </a:rPr>
              <a:t>Well known ports</a:t>
            </a:r>
            <a:r>
              <a:rPr lang="en-US" dirty="0">
                <a:ea typeface="Calibri"/>
                <a:cs typeface="Calibri"/>
              </a:rPr>
              <a:t>: </a:t>
            </a:r>
            <a:r>
              <a:rPr lang="en-US" dirty="0">
                <a:ea typeface="+mn-lt"/>
                <a:cs typeface="+mn-lt"/>
              </a:rPr>
              <a:t>Reserved for widely used services and protocols.</a:t>
            </a:r>
            <a:endParaRPr lang="en-US" dirty="0">
              <a:ea typeface="Calibri"/>
              <a:cs typeface="Calibri"/>
            </a:endParaRPr>
          </a:p>
          <a:p>
            <a:pPr marL="800100" lvl="2" indent="-342900">
              <a:buFont typeface="Wingdings"/>
              <a:buChar char="§"/>
            </a:pPr>
            <a:r>
              <a:rPr lang="en-US" dirty="0">
                <a:ea typeface="Calibri"/>
                <a:cs typeface="Calibri"/>
              </a:rPr>
              <a:t>(1024-49151) </a:t>
            </a:r>
            <a:r>
              <a:rPr lang="en-US" b="1" dirty="0">
                <a:ea typeface="Calibri"/>
                <a:cs typeface="Calibri"/>
              </a:rPr>
              <a:t>Registered ports</a:t>
            </a:r>
            <a:r>
              <a:rPr lang="en-US" dirty="0">
                <a:ea typeface="Calibri"/>
                <a:cs typeface="Calibri"/>
              </a:rPr>
              <a:t>: </a:t>
            </a:r>
            <a:r>
              <a:rPr lang="en-US" dirty="0">
                <a:ea typeface="+mn-lt"/>
                <a:cs typeface="+mn-lt"/>
              </a:rPr>
              <a:t>Assigned to specific applications by organizations.</a:t>
            </a:r>
          </a:p>
          <a:p>
            <a:pPr marL="800100" lvl="2" indent="-342900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(49152-65535) </a:t>
            </a:r>
            <a:r>
              <a:rPr lang="en-US" b="1" dirty="0">
                <a:ea typeface="+mn-lt"/>
                <a:cs typeface="+mn-lt"/>
              </a:rPr>
              <a:t>Dynamic ports</a:t>
            </a:r>
            <a:r>
              <a:rPr lang="en-US" dirty="0">
                <a:ea typeface="+mn-lt"/>
                <a:cs typeface="+mn-lt"/>
              </a:rPr>
              <a:t>: Used by any service for temporary connections.</a:t>
            </a:r>
          </a:p>
          <a:p>
            <a:pPr marL="800100" lvl="2" indent="-342900">
              <a:buFont typeface="Wingdings"/>
              <a:buChar char="§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0D56B-C005-EDA5-48C3-28D684647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535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>
                <a:ea typeface="Calibri Light"/>
                <a:cs typeface="Calibri Light"/>
              </a:rPr>
              <a:t>What is </a:t>
            </a:r>
            <a:r>
              <a:rPr lang="en-US" dirty="0" err="1">
                <a:ea typeface="Calibri Light"/>
                <a:cs typeface="Calibri Light"/>
              </a:rPr>
              <a:t>nmap</a:t>
            </a:r>
            <a:r>
              <a:rPr lang="en-US" dirty="0">
                <a:ea typeface="Calibri Light"/>
                <a:cs typeface="Calibri Light"/>
              </a:rPr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3335" y="2024779"/>
            <a:ext cx="5212079" cy="413718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Nmap (“Network Mapper”) is a free and open source utility for network exploration and security auditing.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First released in 1997, its core utility is in scanning ports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It is a great tool for gaining info on a target network.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9" name="Content Placeholder 8" descr="What is Nmap? A comprehensive guide to Network Scanning for Ethical Hacking  - Networkwalks Academy">
            <a:extLst>
              <a:ext uri="{FF2B5EF4-FFF2-40B4-BE49-F238E27FC236}">
                <a16:creationId xmlns:a16="http://schemas.microsoft.com/office/drawing/2014/main" id="{99B0328F-BFCE-23A4-A053-E8BA58EC03FA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6693885" y="1360916"/>
            <a:ext cx="4137189" cy="413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8A54E-4767-0A82-CCA5-17328D45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Nmap setup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08F89-DF31-D626-F250-7A3B2F1833C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Kali Linux:</a:t>
            </a:r>
          </a:p>
          <a:p>
            <a:r>
              <a:rPr lang="en-US" dirty="0">
                <a:ea typeface="Calibri"/>
                <a:cs typeface="Calibri"/>
              </a:rPr>
              <a:t>Nmap comes preinstalled with Kali.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Other Linux distros:</a:t>
            </a:r>
          </a:p>
          <a:p>
            <a:r>
              <a:rPr lang="en-US" dirty="0">
                <a:ea typeface="+mn-lt"/>
                <a:cs typeface="+mn-lt"/>
              </a:rPr>
              <a:t>Sudo apt-get install </a:t>
            </a:r>
            <a:r>
              <a:rPr lang="en-US" dirty="0" err="1">
                <a:ea typeface="+mn-lt"/>
                <a:cs typeface="+mn-lt"/>
              </a:rPr>
              <a:t>nmap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48B7F-6A34-FB28-8438-AF64E0319F7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Windows: </a:t>
            </a:r>
          </a:p>
          <a:p>
            <a:r>
              <a:rPr lang="en-US" dirty="0">
                <a:ea typeface="Calibri"/>
                <a:cs typeface="Calibri"/>
              </a:rPr>
              <a:t>The lab computers have </a:t>
            </a:r>
            <a:r>
              <a:rPr lang="en-US" dirty="0" err="1">
                <a:ea typeface="Calibri"/>
                <a:cs typeface="Calibri"/>
              </a:rPr>
              <a:t>zenmap</a:t>
            </a:r>
            <a:r>
              <a:rPr lang="en-US" dirty="0">
                <a:ea typeface="Calibri"/>
                <a:cs typeface="Calibri"/>
              </a:rPr>
              <a:t> installed which is a </a:t>
            </a:r>
            <a:r>
              <a:rPr lang="en-US" dirty="0" err="1">
                <a:ea typeface="Calibri"/>
                <a:cs typeface="Calibri"/>
              </a:rPr>
              <a:t>gui</a:t>
            </a:r>
            <a:r>
              <a:rPr lang="en-US" dirty="0">
                <a:ea typeface="Calibri"/>
                <a:cs typeface="Calibri"/>
              </a:rPr>
              <a:t> for </a:t>
            </a:r>
            <a:r>
              <a:rPr lang="en-US" dirty="0" err="1">
                <a:ea typeface="Calibri"/>
                <a:cs typeface="Calibri"/>
              </a:rPr>
              <a:t>nmap</a:t>
            </a:r>
            <a:r>
              <a:rPr lang="en-US" dirty="0">
                <a:ea typeface="Calibri"/>
                <a:cs typeface="Calibri"/>
              </a:rPr>
              <a:t>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OR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Go to </a:t>
            </a:r>
            <a:r>
              <a:rPr lang="en-US" dirty="0">
                <a:ea typeface="Calibri"/>
                <a:cs typeface="Calibri"/>
                <a:hlinkClick r:id="rId2"/>
              </a:rPr>
              <a:t>https://nmap.org/download</a:t>
            </a:r>
            <a:r>
              <a:rPr lang="en-US" dirty="0">
                <a:ea typeface="Calibri"/>
                <a:cs typeface="Calibri"/>
              </a:rPr>
              <a:t> and download the </a:t>
            </a:r>
            <a:r>
              <a:rPr lang="en-US" dirty="0" err="1">
                <a:ea typeface="Calibri"/>
                <a:cs typeface="Calibri"/>
              </a:rPr>
              <a:t>nmap</a:t>
            </a:r>
            <a:r>
              <a:rPr lang="en-US" dirty="0">
                <a:ea typeface="Calibri"/>
                <a:cs typeface="Calibri"/>
              </a:rPr>
              <a:t> installer as well as the </a:t>
            </a:r>
            <a:r>
              <a:rPr lang="en-US" dirty="0" err="1">
                <a:ea typeface="Calibri"/>
                <a:cs typeface="Calibri"/>
              </a:rPr>
              <a:t>npcap</a:t>
            </a:r>
            <a:r>
              <a:rPr lang="en-US" dirty="0">
                <a:ea typeface="Calibri"/>
                <a:cs typeface="Calibri"/>
              </a:rPr>
              <a:t> installer.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9327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7E37D-1E07-6747-90B2-EC49955D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Nmap Basics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2AE32-63C9-EABC-0AEC-D71E5E6EE5C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The most basic scan is: </a:t>
            </a:r>
            <a:r>
              <a:rPr lang="en-US" dirty="0" err="1">
                <a:solidFill>
                  <a:srgbClr val="FF0000"/>
                </a:solidFill>
                <a:ea typeface="Calibri"/>
                <a:cs typeface="Calibri"/>
              </a:rPr>
              <a:t>nmap</a:t>
            </a:r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en-US" dirty="0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&lt;</a:t>
            </a:r>
            <a:r>
              <a:rPr lang="en-US" i="1" dirty="0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target</a:t>
            </a:r>
            <a:r>
              <a:rPr lang="en-US" dirty="0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&gt;</a:t>
            </a:r>
          </a:p>
          <a:p>
            <a:pPr marL="742950" lvl="2"/>
            <a:r>
              <a:rPr lang="en-US" dirty="0">
                <a:ea typeface="Calibri"/>
                <a:cs typeface="Calibri"/>
              </a:rPr>
              <a:t>This performs a SYN scan on the 1000 most common ports.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This won't always give you the best results. Because of this, </a:t>
            </a:r>
            <a:r>
              <a:rPr lang="en-US" err="1">
                <a:ea typeface="Calibri"/>
                <a:cs typeface="Calibri"/>
              </a:rPr>
              <a:t>nmap</a:t>
            </a:r>
            <a:r>
              <a:rPr lang="en-US" dirty="0">
                <a:ea typeface="Calibri"/>
                <a:cs typeface="Calibri"/>
              </a:rPr>
              <a:t> has a wide range of options to fine tune your scans.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Common options</a:t>
            </a:r>
          </a:p>
          <a:p>
            <a:pPr marL="742950" lvl="2"/>
            <a:r>
              <a:rPr lang="en-US" dirty="0">
                <a:ea typeface="Calibri"/>
                <a:cs typeface="Calibri"/>
              </a:rPr>
              <a:t>-v: increases the info </a:t>
            </a:r>
            <a:r>
              <a:rPr lang="en-US" dirty="0" err="1">
                <a:ea typeface="Calibri"/>
                <a:cs typeface="Calibri"/>
              </a:rPr>
              <a:t>nmap</a:t>
            </a:r>
            <a:r>
              <a:rPr lang="en-US" dirty="0">
                <a:ea typeface="Calibri"/>
                <a:cs typeface="Calibri"/>
              </a:rPr>
              <a:t> shows while running</a:t>
            </a:r>
          </a:p>
          <a:p>
            <a:pPr marL="742950" lvl="2"/>
            <a:r>
              <a:rPr lang="en-US" dirty="0">
                <a:ea typeface="Calibri"/>
                <a:cs typeface="Calibri"/>
              </a:rPr>
              <a:t>-p-: let's you specify the range of ports to scan</a:t>
            </a:r>
          </a:p>
          <a:p>
            <a:pPr marL="742950" lvl="2"/>
            <a:r>
              <a:rPr lang="en-US" dirty="0">
                <a:ea typeface="Calibri"/>
                <a:cs typeface="Calibri"/>
              </a:rPr>
              <a:t>-</a:t>
            </a:r>
            <a:r>
              <a:rPr lang="en-US" dirty="0" err="1">
                <a:ea typeface="Calibri"/>
                <a:cs typeface="Calibri"/>
              </a:rPr>
              <a:t>oN</a:t>
            </a:r>
            <a:r>
              <a:rPr lang="en-US" dirty="0">
                <a:ea typeface="Calibri"/>
                <a:cs typeface="Calibri"/>
              </a:rPr>
              <a:t>: saves the scan results to a text file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1790F-DB4C-AEB0-F516-102314A8C53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Using the </a:t>
            </a:r>
            <a:r>
              <a:rPr lang="en-US" dirty="0" err="1">
                <a:solidFill>
                  <a:srgbClr val="FF0000"/>
                </a:solidFill>
                <a:ea typeface="Calibri"/>
                <a:cs typeface="Calibri"/>
              </a:rPr>
              <a:t>nmap</a:t>
            </a:r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en-US" dirty="0">
                <a:ea typeface="Calibri"/>
                <a:cs typeface="Calibri"/>
              </a:rPr>
              <a:t>command with no target provides a list of various options.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Option usage: (These can all be combined)</a:t>
            </a:r>
          </a:p>
          <a:p>
            <a:pPr marL="742950" lvl="2"/>
            <a:r>
              <a:rPr lang="en-US" err="1">
                <a:solidFill>
                  <a:srgbClr val="FF0000"/>
                </a:solidFill>
                <a:ea typeface="Calibri"/>
                <a:cs typeface="Calibri"/>
              </a:rPr>
              <a:t>nmap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&lt;</a:t>
            </a:r>
            <a:r>
              <a:rPr lang="en-US" i="1" dirty="0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target</a:t>
            </a:r>
            <a:r>
              <a:rPr lang="en-US" dirty="0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&gt; -v</a:t>
            </a:r>
            <a:endParaRPr lang="en-US">
              <a:solidFill>
                <a:schemeClr val="accent5">
                  <a:lumMod val="49000"/>
                  <a:lumOff val="51000"/>
                </a:schemeClr>
              </a:solidFill>
            </a:endParaRPr>
          </a:p>
          <a:p>
            <a:pPr marL="742950" lvl="2"/>
            <a:r>
              <a:rPr lang="en-US" dirty="0" err="1">
                <a:solidFill>
                  <a:srgbClr val="FF0000"/>
                </a:solidFill>
                <a:ea typeface="Calibri"/>
                <a:cs typeface="Calibri"/>
              </a:rPr>
              <a:t>nmap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&lt;</a:t>
            </a:r>
            <a:r>
              <a:rPr lang="en-US" i="1" dirty="0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target</a:t>
            </a:r>
            <a:r>
              <a:rPr lang="en-US" dirty="0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&gt; -p 1-9999</a:t>
            </a:r>
          </a:p>
          <a:p>
            <a:pPr marL="742950" lvl="2"/>
            <a:r>
              <a:rPr lang="en-US" err="1">
                <a:solidFill>
                  <a:srgbClr val="FF0000"/>
                </a:solidFill>
                <a:ea typeface="Calibri"/>
                <a:cs typeface="Calibri"/>
              </a:rPr>
              <a:t>nmap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&lt;</a:t>
            </a:r>
            <a:r>
              <a:rPr lang="en-US" i="1" dirty="0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target</a:t>
            </a:r>
            <a:r>
              <a:rPr lang="en-US" dirty="0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&gt; –</a:t>
            </a:r>
            <a:r>
              <a:rPr lang="en-US" err="1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oN</a:t>
            </a:r>
            <a:r>
              <a:rPr lang="en-US" dirty="0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 &lt;</a:t>
            </a:r>
            <a:r>
              <a:rPr lang="en-US" i="1" err="1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output_file_name</a:t>
            </a:r>
            <a:r>
              <a:rPr lang="en-US" dirty="0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67409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4D095-3F63-F000-36CE-E62AFFEF3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1EF6-E908-8E5E-061D-EFA2956D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Nmap Advanced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C3B4C-CF17-D2F1-8324-BF1E20941B9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285750" indent="-285750">
              <a:buFont typeface="Arial,Sans-Serif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SCAN TECHNIQUES</a:t>
            </a:r>
          </a:p>
          <a:p>
            <a:pPr marL="742950" lvl="2"/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-</a:t>
            </a:r>
            <a:r>
              <a:rPr lang="en-US" dirty="0" err="1">
                <a:solidFill>
                  <a:srgbClr val="000000"/>
                </a:solidFill>
                <a:ea typeface="Calibri"/>
                <a:cs typeface="Calibri"/>
              </a:rPr>
              <a:t>sS</a:t>
            </a:r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: </a:t>
            </a:r>
            <a:r>
              <a:rPr lang="en-US" dirty="0" err="1">
                <a:solidFill>
                  <a:srgbClr val="000000"/>
                </a:solidFill>
                <a:ea typeface="Calibri"/>
                <a:cs typeface="Calibri"/>
              </a:rPr>
              <a:t>Tcp</a:t>
            </a:r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 syn scan (default)(stealthy)(requires root)</a:t>
            </a:r>
          </a:p>
          <a:p>
            <a:pPr marL="742950" lvl="2"/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-</a:t>
            </a:r>
            <a:r>
              <a:rPr lang="en-US" dirty="0" err="1">
                <a:solidFill>
                  <a:srgbClr val="000000"/>
                </a:solidFill>
                <a:ea typeface="Calibri"/>
                <a:cs typeface="Calibri"/>
              </a:rPr>
              <a:t>sT</a:t>
            </a:r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: </a:t>
            </a:r>
            <a:r>
              <a:rPr lang="en-US" dirty="0" err="1">
                <a:solidFill>
                  <a:srgbClr val="000000"/>
                </a:solidFill>
                <a:ea typeface="Calibri"/>
                <a:cs typeface="Calibri"/>
              </a:rPr>
              <a:t>Tcp</a:t>
            </a:r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 connect scan (slow)(less stealthy)</a:t>
            </a:r>
          </a:p>
          <a:p>
            <a:pPr marL="742950" lvl="2"/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-</a:t>
            </a:r>
            <a:r>
              <a:rPr lang="en-US" dirty="0" err="1">
                <a:solidFill>
                  <a:srgbClr val="000000"/>
                </a:solidFill>
                <a:ea typeface="Calibri"/>
                <a:cs typeface="Calibri"/>
              </a:rPr>
              <a:t>sU</a:t>
            </a:r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: </a:t>
            </a:r>
            <a:r>
              <a:rPr lang="en-US" dirty="0" err="1">
                <a:solidFill>
                  <a:srgbClr val="000000"/>
                </a:solidFill>
                <a:ea typeface="Calibri"/>
                <a:cs typeface="Calibri"/>
              </a:rPr>
              <a:t>Udp</a:t>
            </a:r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 scan (slower than a </a:t>
            </a:r>
            <a:r>
              <a:rPr lang="en-US" dirty="0" err="1">
                <a:solidFill>
                  <a:srgbClr val="000000"/>
                </a:solidFill>
                <a:ea typeface="Calibri"/>
                <a:cs typeface="Calibri"/>
              </a:rPr>
              <a:t>tcp</a:t>
            </a:r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 scan)</a:t>
            </a:r>
            <a:endParaRPr lang="en-US" dirty="0"/>
          </a:p>
          <a:p>
            <a:pPr marL="742950" lvl="2"/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-</a:t>
            </a:r>
            <a:r>
              <a:rPr lang="en-US" dirty="0" err="1">
                <a:solidFill>
                  <a:srgbClr val="000000"/>
                </a:solidFill>
                <a:ea typeface="Calibri"/>
                <a:cs typeface="Calibri"/>
              </a:rPr>
              <a:t>sA</a:t>
            </a:r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: ACK scan (used to map firewall rulesets)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SERVICE &amp; OS DETECTION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742950" lvl="2"/>
            <a:r>
              <a:rPr lang="en-US" dirty="0">
                <a:ea typeface="Calibri"/>
                <a:cs typeface="Calibri"/>
              </a:rPr>
              <a:t>-</a:t>
            </a:r>
            <a:r>
              <a:rPr lang="en-US" err="1">
                <a:ea typeface="Calibri"/>
                <a:cs typeface="Calibri"/>
              </a:rPr>
              <a:t>sV</a:t>
            </a:r>
            <a:r>
              <a:rPr lang="en-US" dirty="0">
                <a:ea typeface="Calibri"/>
                <a:cs typeface="Calibri"/>
              </a:rPr>
              <a:t>: detects the service running on a port (aggressive)</a:t>
            </a:r>
          </a:p>
          <a:p>
            <a:pPr marL="742950" lvl="2"/>
            <a:r>
              <a:rPr lang="en-US" dirty="0">
                <a:ea typeface="Calibri"/>
                <a:cs typeface="Calibri"/>
              </a:rPr>
              <a:t>-O: detects the OS of a target (aggressive)</a:t>
            </a:r>
          </a:p>
          <a:p>
            <a:pPr marL="742950" lvl="2"/>
            <a:r>
              <a:rPr lang="en-US" dirty="0">
                <a:ea typeface="Calibri"/>
                <a:cs typeface="Calibri"/>
              </a:rPr>
              <a:t>-A: combines </a:t>
            </a:r>
            <a:r>
              <a:rPr lang="en-US" err="1">
                <a:ea typeface="Calibri"/>
                <a:cs typeface="Calibri"/>
              </a:rPr>
              <a:t>sV</a:t>
            </a:r>
            <a:r>
              <a:rPr lang="en-US" dirty="0">
                <a:ea typeface="Calibri"/>
                <a:cs typeface="Calibri"/>
              </a:rPr>
              <a:t> and O as well as a few other insightful options (very aggressive)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D048C-49E3-9A85-EC24-61C638BC6D8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TIMING</a:t>
            </a:r>
          </a:p>
          <a:p>
            <a:pPr marL="742950" lvl="2"/>
            <a:r>
              <a:rPr lang="en-US" dirty="0">
                <a:ea typeface="Calibri"/>
                <a:cs typeface="Calibri"/>
              </a:rPr>
              <a:t>-T0 to T5: Determines how fast </a:t>
            </a:r>
            <a:r>
              <a:rPr lang="en-US" dirty="0" err="1">
                <a:ea typeface="Calibri"/>
                <a:cs typeface="Calibri"/>
              </a:rPr>
              <a:t>nmap</a:t>
            </a:r>
            <a:r>
              <a:rPr lang="en-US" dirty="0">
                <a:ea typeface="Calibri"/>
                <a:cs typeface="Calibri"/>
              </a:rPr>
              <a:t> performs the scan. T0 is the slowest and T5 is the fastest. </a:t>
            </a:r>
            <a:endParaRPr lang="en-US">
              <a:ea typeface="Calibri"/>
              <a:cs typeface="Calibri"/>
            </a:endParaRPr>
          </a:p>
          <a:p>
            <a:pPr marL="514350" lvl="2" indent="0">
              <a:buNone/>
            </a:pPr>
            <a:r>
              <a:rPr lang="en-US" dirty="0">
                <a:ea typeface="Calibri"/>
                <a:cs typeface="Calibri"/>
              </a:rPr>
              <a:t>(Faster scans are less stealthy)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MISC</a:t>
            </a:r>
          </a:p>
          <a:p>
            <a:pPr marL="742950" lvl="2" indent="-285750"/>
            <a:r>
              <a:rPr lang="en-US" dirty="0">
                <a:ea typeface="Calibri"/>
                <a:cs typeface="Calibri"/>
              </a:rPr>
              <a:t>-</a:t>
            </a:r>
            <a:r>
              <a:rPr lang="en-US" dirty="0" err="1">
                <a:ea typeface="Calibri"/>
                <a:cs typeface="Calibri"/>
              </a:rPr>
              <a:t>sn</a:t>
            </a:r>
            <a:r>
              <a:rPr lang="en-US" dirty="0">
                <a:ea typeface="Calibri"/>
                <a:cs typeface="Calibri"/>
              </a:rPr>
              <a:t>: only does host discovery (no port scanning)</a:t>
            </a:r>
          </a:p>
          <a:p>
            <a:pPr marL="742950" lvl="2" indent="-285750"/>
            <a:r>
              <a:rPr lang="en-US" dirty="0">
                <a:ea typeface="Calibri"/>
                <a:cs typeface="Calibri"/>
              </a:rPr>
              <a:t>-</a:t>
            </a:r>
            <a:r>
              <a:rPr lang="en-US" dirty="0" err="1">
                <a:ea typeface="Calibri"/>
                <a:cs typeface="Calibri"/>
              </a:rPr>
              <a:t>Pn</a:t>
            </a:r>
            <a:r>
              <a:rPr lang="en-US" dirty="0">
                <a:ea typeface="Calibri"/>
                <a:cs typeface="Calibri"/>
              </a:rPr>
              <a:t>: skips host discovery</a:t>
            </a:r>
          </a:p>
          <a:p>
            <a:pPr marL="742950" lvl="2" indent="-285750"/>
            <a:r>
              <a:rPr lang="en-US" dirty="0">
                <a:ea typeface="Calibri"/>
                <a:cs typeface="Calibri"/>
              </a:rPr>
              <a:t>-D: Creates decoys using specified </a:t>
            </a:r>
            <a:r>
              <a:rPr lang="en-US" dirty="0" err="1">
                <a:ea typeface="Calibri"/>
                <a:cs typeface="Calibri"/>
              </a:rPr>
              <a:t>ip's</a:t>
            </a:r>
            <a:r>
              <a:rPr lang="en-US" dirty="0">
                <a:ea typeface="Calibri"/>
                <a:cs typeface="Calibri"/>
              </a:rPr>
              <a:t> that simulate scanning. </a:t>
            </a:r>
          </a:p>
        </p:txBody>
      </p:sp>
    </p:spTree>
    <p:extLst>
      <p:ext uri="{BB962C8B-B14F-4D97-AF65-F5344CB8AC3E}">
        <p14:creationId xmlns:p14="http://schemas.microsoft.com/office/powerpoint/2010/main" val="257673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82397-B165-1669-D30D-A9ACC73C6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Nmap scripting engine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E4F5F-55B0-628D-2393-6BFAAB1674A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Nmap Scripting Engine (NSE) is one of Nmap's most powerful and flexible features.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It lets users use scripts to interact with targets and gain even more information about the services being used.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-</a:t>
            </a:r>
            <a:r>
              <a:rPr lang="en-US" dirty="0" err="1">
                <a:ea typeface="Calibri"/>
                <a:cs typeface="Calibri"/>
              </a:rPr>
              <a:t>sV</a:t>
            </a:r>
            <a:r>
              <a:rPr lang="en-US" dirty="0">
                <a:ea typeface="Calibri"/>
                <a:cs typeface="Calibri"/>
              </a:rPr>
              <a:t> actually loads a few scripts from the NSE for identifying more difficult services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34422-9240-423E-5D27-B004E3060AD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The option to run the default set of scripts is </a:t>
            </a:r>
            <a:r>
              <a:rPr lang="en-US" dirty="0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-</a:t>
            </a:r>
            <a:r>
              <a:rPr lang="en-US" err="1">
                <a:solidFill>
                  <a:schemeClr val="accent5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sC</a:t>
            </a:r>
            <a:endParaRPr lang="en-US">
              <a:solidFill>
                <a:schemeClr val="accent5">
                  <a:lumMod val="49000"/>
                  <a:lumOff val="51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3675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55484-C367-17AB-2DEB-EAB7D2DD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Calibri Light"/>
                <a:cs typeface="Calibri Light"/>
              </a:rPr>
              <a:t>FInal</a:t>
            </a:r>
            <a:r>
              <a:rPr lang="en-US" dirty="0">
                <a:ea typeface="Calibri Light"/>
                <a:cs typeface="Calibri Light"/>
              </a:rPr>
              <a:t> notes and disclaimer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16AD6-1E60-68BB-613A-F03B0D58B0F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DON'T SCAN RANDOM IP ADDRESSES</a:t>
            </a:r>
            <a:endParaRPr lang="en-US" dirty="0"/>
          </a:p>
          <a:p>
            <a:pPr marL="742950" lvl="2" indent="-285750"/>
            <a:r>
              <a:rPr lang="en-US" dirty="0">
                <a:ea typeface="Calibri"/>
                <a:cs typeface="Calibri"/>
              </a:rPr>
              <a:t>Network admins might not like you scanning their networks so don't do it without permission.</a:t>
            </a:r>
          </a:p>
          <a:p>
            <a:pPr marL="285750" indent="-228600">
              <a:buFont typeface="Arial" panose="05000000000000000000" pitchFamily="2" charset="2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6DA4D2-5E75-4D86-8AD7-627C97A93AB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There are many </a:t>
            </a:r>
            <a:r>
              <a:rPr lang="en-US" err="1">
                <a:ea typeface="Calibri"/>
                <a:cs typeface="Calibri"/>
              </a:rPr>
              <a:t>MANY</a:t>
            </a:r>
            <a:r>
              <a:rPr lang="en-US" dirty="0">
                <a:ea typeface="Calibri"/>
                <a:cs typeface="Calibri"/>
              </a:rPr>
              <a:t> more options available in </a:t>
            </a:r>
            <a:r>
              <a:rPr lang="en-US" err="1">
                <a:ea typeface="Calibri"/>
                <a:cs typeface="Calibri"/>
              </a:rPr>
              <a:t>nmap</a:t>
            </a:r>
            <a:r>
              <a:rPr lang="en-US" dirty="0">
                <a:ea typeface="Calibri"/>
                <a:cs typeface="Calibri"/>
              </a:rPr>
              <a:t>. </a:t>
            </a:r>
            <a:endParaRPr lang="en-US"/>
          </a:p>
          <a:p>
            <a:r>
              <a:rPr lang="en-US" dirty="0">
                <a:ea typeface="Calibri"/>
                <a:cs typeface="Calibri"/>
              </a:rPr>
              <a:t> The ones mentioned in this presentation are just a starting point for the tool.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57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Social Media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F2CCE123-860F-8623-781F-12CEA66980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2024781"/>
            <a:ext cx="2878394" cy="4137189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Instagram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42491" y="1998276"/>
            <a:ext cx="4894006" cy="413718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Discord</a:t>
            </a: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r>
              <a:rPr lang="en-US" dirty="0">
                <a:ea typeface="Calibri"/>
                <a:cs typeface="Calibri"/>
              </a:rPr>
              <a:t>https://dsc.gg/bsucyber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Picture 7" descr="A qr code with a logo&#10;&#10;Description automatically generated">
            <a:extLst>
              <a:ext uri="{FF2B5EF4-FFF2-40B4-BE49-F238E27FC236}">
                <a16:creationId xmlns:a16="http://schemas.microsoft.com/office/drawing/2014/main" id="{7C2D2093-971B-5E61-31E0-2C09D546B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490" y="2520995"/>
            <a:ext cx="2737104" cy="3144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D13A84-6D8E-53DB-458B-9FD8BAFB6426}"/>
              </a:ext>
            </a:extLst>
          </p:cNvPr>
          <p:cNvSpPr txBox="1"/>
          <p:nvPr/>
        </p:nvSpPr>
        <p:spPr>
          <a:xfrm>
            <a:off x="8935064" y="1997176"/>
            <a:ext cx="242119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Calibri"/>
                <a:cs typeface="Calibri"/>
              </a:rPr>
              <a:t>Be Connected</a:t>
            </a:r>
            <a:endParaRPr lang="en-US">
              <a:ea typeface="Calibri"/>
              <a:cs typeface="Calibri"/>
            </a:endParaRPr>
          </a:p>
          <a:p>
            <a:pPr algn="ctr"/>
            <a:r>
              <a:rPr lang="en-US" dirty="0">
                <a:ea typeface="Calibri"/>
                <a:cs typeface="Calibri"/>
              </a:rPr>
              <a:t>(Attendance)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6" name="Picture 5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5167DE7F-FE1E-5D4B-F4D8-07920C672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030" y="2458064"/>
            <a:ext cx="3255036" cy="3203678"/>
          </a:xfrm>
          <a:prstGeom prst="rect">
            <a:avLst/>
          </a:prstGeom>
        </p:spPr>
      </p:pic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C292721C-1F4F-4635-D1E5-31D0B47B9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602" y="2699096"/>
            <a:ext cx="3013689" cy="295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11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210711"/>
            <a:ext cx="9467127" cy="2527911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075" y="3738622"/>
            <a:ext cx="9467850" cy="252791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e399ec9-07ee-4062-b027-fd0b9267421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BD70D31801F64498B34939F9D9E0DE" ma:contentTypeVersion="11" ma:contentTypeDescription="Create a new document." ma:contentTypeScope="" ma:versionID="71c4fc79c94cf855902de1a12d2c5fe6">
  <xsd:schema xmlns:xsd="http://www.w3.org/2001/XMLSchema" xmlns:xs="http://www.w3.org/2001/XMLSchema" xmlns:p="http://schemas.microsoft.com/office/2006/metadata/properties" xmlns:ns3="6e399ec9-07ee-4062-b027-fd0b92674212" targetNamespace="http://schemas.microsoft.com/office/2006/metadata/properties" ma:root="true" ma:fieldsID="6aa90e82da149648f5f53fcd40789a27" ns3:_="">
    <xsd:import namespace="6e399ec9-07ee-4062-b027-fd0b9267421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399ec9-07ee-4062-b027-fd0b926742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C2645A-E767-4D7E-984D-234E531E4556}">
  <ds:schemaRefs>
    <ds:schemaRef ds:uri="http://schemas.microsoft.com/office/infopath/2007/PartnerControls"/>
    <ds:schemaRef ds:uri="http://purl.org/dc/terms/"/>
    <ds:schemaRef ds:uri="http://www.w3.org/XML/1998/namespace"/>
    <ds:schemaRef ds:uri="6e399ec9-07ee-4062-b027-fd0b92674212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F73B1A-B6F9-43BC-BF8C-D4E1F4CBC1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399ec9-07ee-4062-b027-fd0b926742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{EB228CB6-ADCF-49B3-8CAE-BD5A7D9061DE}tf55661986_win32</Template>
  <TotalTime>3</TotalTime>
  <Words>24</Words>
  <Application>Microsoft Office PowerPoint</Application>
  <PresentationFormat>Widescreen</PresentationFormat>
  <Paragraphs>22</Paragraphs>
  <Slides>12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Custom</vt:lpstr>
      <vt:lpstr>Cybersecurity club</vt:lpstr>
      <vt:lpstr>AGENDA</vt:lpstr>
      <vt:lpstr>CYBER NEWS!!!</vt:lpstr>
      <vt:lpstr>What Are ports?</vt:lpstr>
      <vt:lpstr>What is nmap?</vt:lpstr>
      <vt:lpstr>Nmap setup</vt:lpstr>
      <vt:lpstr>Nmap Basics</vt:lpstr>
      <vt:lpstr>Nmap Advanced</vt:lpstr>
      <vt:lpstr>Nmap scripting engine</vt:lpstr>
      <vt:lpstr>FInal notes and disclaimer</vt:lpstr>
      <vt:lpstr>Social Media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Tricker, Ian</dc:creator>
  <cp:lastModifiedBy>Tricker, Ian</cp:lastModifiedBy>
  <cp:revision>571</cp:revision>
  <dcterms:created xsi:type="dcterms:W3CDTF">2025-01-28T02:47:02Z</dcterms:created>
  <dcterms:modified xsi:type="dcterms:W3CDTF">2025-10-09T15:42:32Z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0x01010051BD70D31801F64498B34939F9D9E0DE</vt:lpwstr>
  </property>
  <property fmtid="{D5CDD505-2E9C-101B-9397-08002B2CF9AE}" pid="3" name="MediaServiceImageTags">
    <vt:lpwstr/>
  </property>
</Properties>
</file>